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(£m)</c:v>
                </c:pt>
              </c:strCache>
            </c:strRef>
          </c:tx>
          <c:spPr>
            <a:solidFill>
              <a:srgbClr val="CE1B2B">
                <a:alpha val="100000"/>
              </a:srgbClr>
            </a:solidFill>
            <a:effectLst/>
          </c:spPr>
          <c:invertIfNegative val="0"/>
          <c:dLbls>
            <c:numFmt formatCode="£0.0&quot;m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A3121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0.55</c:v>
                </c:pt>
                <c:pt idx="1">
                  <c:v>1.3</c:v>
                </c:pt>
                <c:pt idx="2">
                  <c:v>2.6</c:v>
                </c:pt>
              </c:numCache>
            </c:numRef>
          </c:val>
        </c:ser>
        <c:dLbls>
          <c:numFmt formatCode="£0.0&quot;m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A3121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6273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AeroCert Partners: a boutique aviation regulatory consultancy that delivers UK CAA and EASA AOCs as managed, fixed-scope programmes.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Certification is a one-off; compliance is forever. Every AOC we deliver seeds a retained relationship.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AOC also needs an Operating Licence (economic authorisation) and continuing-airworthiness / CAMO arrangements, typically progressed in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illustrative placeholders. Capital-light, plausibly bootstrappable by a credible founder with a first anchor client. Milestone billing with a deposit is essential.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84A"/>
          </a:solidFill>
          <a:ln/>
        </p:spPr>
      </p:sp>
      <p:sp>
        <p:nvSpPr>
          <p:cNvPr id="3" name="Shape 1"/>
          <p:cNvSpPr/>
          <p:nvPr/>
        </p:nvSpPr>
        <p:spPr>
          <a:xfrm>
            <a:off x="9372600" y="4160520"/>
            <a:ext cx="1737360" cy="1737360"/>
          </a:xfrm>
          <a:prstGeom prst="oval">
            <a:avLst/>
          </a:prstGeom>
          <a:ln w="12700">
            <a:solidFill>
              <a:srgbClr val="2240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37776" y="4425696"/>
            <a:ext cx="1207008" cy="1207008"/>
          </a:xfrm>
          <a:prstGeom prst="oval">
            <a:avLst/>
          </a:prstGeom>
          <a:ln w="12700">
            <a:solidFill>
              <a:srgbClr val="2240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93808" y="4681728"/>
            <a:ext cx="694944" cy="694944"/>
          </a:xfrm>
          <a:prstGeom prst="oval">
            <a:avLst/>
          </a:prstGeom>
          <a:ln w="12700">
            <a:solidFill>
              <a:srgbClr val="2240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13264" y="4901184"/>
            <a:ext cx="256032" cy="256032"/>
          </a:xfrm>
          <a:prstGeom prst="oval">
            <a:avLst/>
          </a:prstGeom>
          <a:ln w="12700">
            <a:solidFill>
              <a:srgbClr val="2240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86416" y="4974336"/>
            <a:ext cx="109728" cy="109728"/>
          </a:xfrm>
          <a:prstGeom prst="oval">
            <a:avLst/>
          </a:prstGeom>
          <a:solidFill>
            <a:srgbClr val="22406A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" y="228600"/>
            <a:ext cx="1737360" cy="1737360"/>
          </a:xfrm>
          <a:prstGeom prst="oval">
            <a:avLst/>
          </a:prstGeom>
          <a:ln w="12700">
            <a:solidFill>
              <a:srgbClr val="1C3A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" y="493776"/>
            <a:ext cx="1207008" cy="1207008"/>
          </a:xfrm>
          <a:prstGeom prst="oval">
            <a:avLst/>
          </a:prstGeom>
          <a:ln w="12700">
            <a:solidFill>
              <a:srgbClr val="1C3A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749808"/>
            <a:ext cx="694944" cy="694944"/>
          </a:xfrm>
          <a:prstGeom prst="oval">
            <a:avLst/>
          </a:prstGeom>
          <a:ln w="12700">
            <a:solidFill>
              <a:srgbClr val="1C3A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969264"/>
            <a:ext cx="256032" cy="256032"/>
          </a:xfrm>
          <a:prstGeom prst="oval">
            <a:avLst/>
          </a:prstGeom>
          <a:ln w="12700">
            <a:solidFill>
              <a:srgbClr val="1C3A6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9536" y="1042416"/>
            <a:ext cx="109728" cy="109728"/>
          </a:xfrm>
          <a:prstGeom prst="oval">
            <a:avLst/>
          </a:prstGeom>
          <a:solidFill>
            <a:srgbClr val="1C3A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50" kern="0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BUSINESS-CREATION PLAN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AeroCert Partners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4290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specialist consultancy taking operators from concept to a live UK CAA or EASA Air Operator Certificate — and keeping them compliant afterwards.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1B3D6B"/>
          </a:solidFill>
          <a:ln w="12700">
            <a:solidFill>
              <a:srgbClr val="5E7C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7091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CAA + EASA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0" y="470916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1B3D6B"/>
          </a:solidFill>
          <a:ln w="12700">
            <a:solidFill>
              <a:srgbClr val="5E7C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29000" y="47091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programmes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4709160"/>
            <a:ext cx="2606040" cy="566928"/>
          </a:xfrm>
          <a:prstGeom prst="roundRect">
            <a:avLst>
              <a:gd name="adj" fmla="val 50000"/>
            </a:avLst>
          </a:prstGeom>
          <a:solidFill>
            <a:srgbClr val="1B3D6B"/>
          </a:solidFill>
          <a:ln w="12700">
            <a:solidFill>
              <a:srgbClr val="5E7C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4709160"/>
            <a:ext cx="2606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compliance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14476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name — placeholder. Illustrative planning aid, not legal, regulatory, or financial advice.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7432"/>
            <a:ext cx="1737360" cy="1737360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237744"/>
            <a:ext cx="1207008" cy="1207008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8248" y="493776"/>
            <a:ext cx="694944" cy="694944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7704" y="713232"/>
            <a:ext cx="256032" cy="256032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0856" y="786384"/>
            <a:ext cx="109728" cy="109728"/>
          </a:xfrm>
          <a:prstGeom prst="oval">
            <a:avLst/>
          </a:prstGeom>
          <a:solidFill>
            <a:srgbClr val="DCE7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731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sell the scarce thing every new operator needs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Senior, authority-facing certification expertise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packaged as a managed project. An AOC programme is long, document-heavy, and unforgiving of error — delays burn a start-up's cash while aircraft, crews, and leases sit idle. Our value proposition is simple: we compress the timeline and de-risk the outcome.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6492240" cy="932688"/>
          </a:xfrm>
          <a:prstGeom prst="roundRect">
            <a:avLst>
              <a:gd name="adj" fmla="val 8824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246120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6–12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246120"/>
            <a:ext cx="4069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for a typical AOC programme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325112"/>
            <a:ext cx="6492240" cy="932688"/>
          </a:xfrm>
          <a:prstGeom prst="roundRect">
            <a:avLst>
              <a:gd name="adj" fmla="val 8824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325112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4325112"/>
            <a:ext cx="4069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post-Brexit for full market access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404104"/>
            <a:ext cx="6492240" cy="932688"/>
          </a:xfrm>
          <a:prstGeom prst="roundRect">
            <a:avLst>
              <a:gd name="adj" fmla="val 8824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5404104"/>
            <a:ext cx="2103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A3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45–60%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2926080" y="5404104"/>
            <a:ext cx="4069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gross margin on managed programmes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635240" y="1600200"/>
            <a:ext cx="3931920" cy="4526280"/>
          </a:xfrm>
          <a:prstGeom prst="roundRect">
            <a:avLst>
              <a:gd name="adj" fmla="val 2326"/>
            </a:avLst>
          </a:prstGeom>
          <a:solidFill>
            <a:srgbClr val="10284A"/>
          </a:solidFill>
          <a:ln/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90956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SELL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09560" y="2331720"/>
            <a:ext cx="502920" cy="502920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095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2295144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Strategy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8549640" y="2660904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Route, jurisdiction, cost &amp; timeline model, gap analysis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09560" y="3593592"/>
            <a:ext cx="502920" cy="502920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90956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549640" y="3557016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AOC Programme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549640" y="3922776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managed delivery to certificate award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09560" y="4855464"/>
            <a:ext cx="502920" cy="502920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909560" y="4855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549640" y="4818888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Compliance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549640" y="51846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monitoring, audits, postholder-as-a-service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7432"/>
            <a:ext cx="1737360" cy="1737360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237744"/>
            <a:ext cx="1207008" cy="1207008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8248" y="493776"/>
            <a:ext cx="694944" cy="694944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7704" y="713232"/>
            <a:ext cx="256032" cy="256032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0856" y="786384"/>
            <a:ext cx="109728" cy="109728"/>
          </a:xfrm>
          <a:prstGeom prst="oval">
            <a:avLst/>
          </a:prstGeom>
          <a:solidFill>
            <a:srgbClr val="DCE7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731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operator must do all of this — at once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1911096"/>
            <a:ext cx="457200" cy="45720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187452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2404872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state of the operator. Post-Brexit, UK and EASA AOCs are two certificates, two regulators.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9120" y="1691640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0288" y="1911096"/>
            <a:ext cx="457200" cy="45720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90288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166360" y="187452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 &amp; SMS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4590288" y="2404872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compliant management system and safety management system proportionate to the operation.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1691640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39328" y="1911096"/>
            <a:ext cx="457200" cy="45720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39328" y="19110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915400" y="187452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suite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8339328" y="2404872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OM Parts A–D, Compliance Monitoring, MEL, training manuals, and the airworthiness exposition.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3429000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3648456"/>
            <a:ext cx="457200" cy="45720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417320" y="361188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Nominated persons</a:t>
            </a:r>
            <a:endParaRPr lang="en-US" sz="1450" dirty="0"/>
          </a:p>
        </p:txBody>
      </p:sp>
      <p:sp>
        <p:nvSpPr>
          <p:cNvPr id="28" name="Text 26"/>
          <p:cNvSpPr txBox="1"/>
          <p:nvPr/>
        </p:nvSpPr>
        <p:spPr>
          <a:xfrm>
            <a:off x="841248" y="4142232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and win authority acceptance of the accountable manager and responsible persons.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389120" y="3429000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90288" y="3648456"/>
            <a:ext cx="457200" cy="45720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90288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166360" y="361188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Five-phase certification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4590288" y="4142232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a phased process ending in on-site inspection and demonstration / proving flights.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38160" y="3429000"/>
            <a:ext cx="3529584" cy="1481328"/>
          </a:xfrm>
          <a:prstGeom prst="roundRect">
            <a:avLst>
              <a:gd name="adj" fmla="val 5556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339328" y="3648456"/>
            <a:ext cx="457200" cy="45720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339328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915400" y="3611880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licence</a:t>
            </a:r>
            <a:endParaRPr lang="en-US" sz="1450" dirty="0"/>
          </a:p>
        </p:txBody>
      </p:sp>
      <p:sp>
        <p:nvSpPr>
          <p:cNvPr id="38" name="Text 36"/>
          <p:cNvSpPr txBox="1"/>
          <p:nvPr/>
        </p:nvSpPr>
        <p:spPr>
          <a:xfrm>
            <a:off x="8339328" y="4142232"/>
            <a:ext cx="3127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the Operating Licence and airworthiness / CAMO approvals — in parallel.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6199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A3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Founders rarely have all of this in-house. We provide it as a service.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7432"/>
            <a:ext cx="1737360" cy="1737360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237744"/>
            <a:ext cx="1207008" cy="1207008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8248" y="493776"/>
            <a:ext cx="694944" cy="694944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7704" y="713232"/>
            <a:ext cx="256032" cy="256032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0856" y="786384"/>
            <a:ext cx="109728" cy="109728"/>
          </a:xfrm>
          <a:prstGeom prst="oval">
            <a:avLst/>
          </a:prstGeom>
          <a:solidFill>
            <a:srgbClr val="DCE7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731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buys, and why demand is growing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00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1965960"/>
            <a:ext cx="5943600" cy="621792"/>
          </a:xfrm>
          <a:prstGeom prst="roundRect">
            <a:avLst>
              <a:gd name="adj" fmla="val 8824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203704"/>
            <a:ext cx="146304" cy="146304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97280" y="200253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Start-up airlines &amp; CAT operators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28600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AOC from scratch — urgent, investor-funded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0080" y="2688336"/>
            <a:ext cx="5943600" cy="621792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2926080"/>
            <a:ext cx="146304" cy="146304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97280" y="2724912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executive jet operators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300837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AOC for charter; owner- or management-driven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0080" y="3410712"/>
            <a:ext cx="5943600" cy="621792"/>
          </a:xfrm>
          <a:prstGeom prst="roundRect">
            <a:avLst>
              <a:gd name="adj" fmla="val 8824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" y="3648456"/>
            <a:ext cx="146304" cy="146304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97280" y="3447288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 &amp; ACMI operators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73075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AOC + wet-lease approvals; fast scaling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40080" y="4133088"/>
            <a:ext cx="5943600" cy="621792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370832"/>
            <a:ext cx="146304" cy="146304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97280" y="416966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expanding scope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44531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type or approval — LVO, PBN, ETOPS, HEMS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40080" y="4855464"/>
            <a:ext cx="5943600" cy="621792"/>
          </a:xfrm>
          <a:prstGeom prst="roundRect">
            <a:avLst>
              <a:gd name="adj" fmla="val 8824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5093208"/>
            <a:ext cx="146304" cy="146304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097280" y="489204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Dual-market operators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97280" y="51755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AOC for UK+EASA access — high value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40080" y="5577840"/>
            <a:ext cx="5943600" cy="621792"/>
          </a:xfrm>
          <a:prstGeom prst="roundRect">
            <a:avLst>
              <a:gd name="adj" fmla="val 8824"/>
            </a:avLst>
          </a:prstGeom>
          <a:solidFill>
            <a:srgbClr val="F4F7FB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4672" y="5815584"/>
            <a:ext cx="146304" cy="146304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97280" y="5614416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/ lessors / lenders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1097280" y="58978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due diligence on a cert plan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903720" y="1600200"/>
            <a:ext cx="4663440" cy="4526280"/>
          </a:xfrm>
          <a:prstGeom prst="roundRect">
            <a:avLst>
              <a:gd name="adj" fmla="val 2020"/>
            </a:avLst>
          </a:prstGeom>
          <a:solidFill>
            <a:srgbClr val="10284A"/>
          </a:solidFill>
          <a:ln/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17804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DRIVERS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178040" y="2286000"/>
            <a:ext cx="384048" cy="384048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7804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699248" y="2258568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divergence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699248" y="2560320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CAA and EASA are now distinct — one market may need two certificates.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78040" y="3218688"/>
            <a:ext cx="384048" cy="384048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717804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7699248" y="3191256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renewal &amp; new entrants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7699248" y="349300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aviation, cargo/e-commerce logistics, regional connectivity.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78040" y="4151376"/>
            <a:ext cx="384048" cy="384048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17804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7699248" y="4123944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expansion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7699248" y="4425696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new type, approval, or route is a discrete certification mini-project.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178040" y="5084064"/>
            <a:ext cx="384048" cy="384048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17804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7699248" y="5056632"/>
            <a:ext cx="3703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Scarcity of expertise</a:t>
            </a:r>
            <a:endParaRPr lang="en-US" sz="1350" dirty="0"/>
          </a:p>
        </p:txBody>
      </p:sp>
      <p:sp>
        <p:nvSpPr>
          <p:cNvPr id="51" name="Text 49"/>
          <p:cNvSpPr txBox="1"/>
          <p:nvPr/>
        </p:nvSpPr>
        <p:spPr>
          <a:xfrm>
            <a:off x="7699248" y="5358384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Postholders are hard to recruit; interim and fractional provision in demand.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7432"/>
            <a:ext cx="1737360" cy="1737360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237744"/>
            <a:ext cx="1207008" cy="1207008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8248" y="493776"/>
            <a:ext cx="694944" cy="694944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7704" y="713232"/>
            <a:ext cx="256032" cy="256032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0856" y="786384"/>
            <a:ext cx="109728" cy="109728"/>
          </a:xfrm>
          <a:prstGeom prst="oval">
            <a:avLst/>
          </a:prstGeom>
          <a:solidFill>
            <a:srgbClr val="DCE7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731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senior boutique between the freelancer and the incumbent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5257800" cy="896112"/>
          </a:xfrm>
          <a:prstGeom prst="roundRect">
            <a:avLst>
              <a:gd name="adj" fmla="val 9184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68680" y="180136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consultancies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11226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Credible &amp; full-service — but expensive, generalist, and slow to move.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715768"/>
            <a:ext cx="5257800" cy="896112"/>
          </a:xfrm>
          <a:prstGeom prst="roundRect">
            <a:avLst>
              <a:gd name="adj" fmla="val 9184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282549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freelancers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13639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expertise, low cost — but limited capacity and key-person risk.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739896"/>
            <a:ext cx="5257800" cy="896112"/>
          </a:xfrm>
          <a:prstGeom prst="roundRect">
            <a:avLst>
              <a:gd name="adj" fmla="val 9184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68680" y="384962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law firms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16052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licensing &amp; structuring — weaker on manuals and liaison.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764024"/>
            <a:ext cx="5257800" cy="896112"/>
          </a:xfrm>
          <a:prstGeom prst="roundRect">
            <a:avLst>
              <a:gd name="adj" fmla="val 9184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68680" y="48737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In-house build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18464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hires postholders directly — slower, still needs surge support.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55080" y="169164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10284A"/>
          </a:solidFill>
          <a:ln/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675120" y="1920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POSITIONING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22402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expertise delivered as a managed, fixed-scope programme.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675120" y="3246120"/>
            <a:ext cx="310896" cy="310896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67512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114032" y="32004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Dual-jurisdiction fluency — UK and EASA as a core competence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675120" y="3867912"/>
            <a:ext cx="310896" cy="310896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67512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114032" y="38221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Productised, milestone-priced engagements — scope, timeline, cost up front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675120" y="4489704"/>
            <a:ext cx="310896" cy="310896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75120" y="4489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114032" y="444398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Template-driven document factory — authority-tested frameworks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675120" y="5111496"/>
            <a:ext cx="310896" cy="310896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675120" y="5111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7114032" y="50657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network — surge capacity without full-time overhead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7432"/>
            <a:ext cx="1737360" cy="1737360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237744"/>
            <a:ext cx="1207008" cy="1207008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8248" y="493776"/>
            <a:ext cx="694944" cy="694944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7704" y="713232"/>
            <a:ext cx="256032" cy="256032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0856" y="786384"/>
            <a:ext cx="109728" cy="109728"/>
          </a:xfrm>
          <a:prstGeom prst="oval">
            <a:avLst/>
          </a:prstGeom>
          <a:solidFill>
            <a:srgbClr val="DCE7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PRIMER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731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UK &amp; EASA AOC certification actually works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10972800" cy="841248"/>
          </a:xfrm>
          <a:prstGeom prst="roundRect">
            <a:avLst>
              <a:gd name="adj" fmla="val 8696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1600200"/>
            <a:ext cx="10515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regimes since Brexit.  </a:t>
            </a:r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UK CAA applies retained EU rules; an EASA AOC is issued by an EU member-state NAA where the operator has its principal place of business. Both markets can mean two certificates, two regulators, two oversight relationships.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974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FIVE-PHASE CERTIFICATION PROCESS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89888" y="3429000"/>
            <a:ext cx="585216" cy="585216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389888" y="3429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13308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Pre-application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46634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Enquiry, eligibility &amp; statement of intent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29484" y="3657600"/>
            <a:ext cx="128016" cy="146304"/>
          </a:xfrm>
          <a:prstGeom prst="rightTriangle">
            <a:avLst/>
          </a:prstGeom>
          <a:solidFill>
            <a:srgbClr val="5E7CA6"/>
          </a:solidFill>
          <a:ln/>
        </p:spPr>
      </p:sp>
      <p:sp>
        <p:nvSpPr>
          <p:cNvPr id="18" name="Shape 16"/>
          <p:cNvSpPr/>
          <p:nvPr/>
        </p:nvSpPr>
        <p:spPr>
          <a:xfrm>
            <a:off x="2862072" y="320040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11880" y="3429000"/>
            <a:ext cx="585216" cy="585216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611880" y="3429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2953512" y="413308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application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46634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submission, scope &amp; compliance/gap plan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51476" y="3657600"/>
            <a:ext cx="128016" cy="146304"/>
          </a:xfrm>
          <a:prstGeom prst="rightTriangle">
            <a:avLst/>
          </a:prstGeom>
          <a:solidFill>
            <a:srgbClr val="5E7CA6"/>
          </a:solidFill>
          <a:ln/>
        </p:spPr>
      </p:sp>
      <p:sp>
        <p:nvSpPr>
          <p:cNvPr id="24" name="Shape 22"/>
          <p:cNvSpPr/>
          <p:nvPr/>
        </p:nvSpPr>
        <p:spPr>
          <a:xfrm>
            <a:off x="5084064" y="320040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833872" y="3429000"/>
            <a:ext cx="585216" cy="585216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33872" y="3429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175504" y="413308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evaluation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212080" y="46634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reviews the full manual set; iterative findings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3468" y="3657600"/>
            <a:ext cx="128016" cy="146304"/>
          </a:xfrm>
          <a:prstGeom prst="rightTriangle">
            <a:avLst/>
          </a:prstGeom>
          <a:solidFill>
            <a:srgbClr val="5E7CA6"/>
          </a:solidFill>
          <a:ln/>
        </p:spPr>
      </p:sp>
      <p:sp>
        <p:nvSpPr>
          <p:cNvPr id="30" name="Shape 28"/>
          <p:cNvSpPr/>
          <p:nvPr/>
        </p:nvSpPr>
        <p:spPr>
          <a:xfrm>
            <a:off x="7306056" y="320040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055864" y="3429000"/>
            <a:ext cx="585216" cy="585216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055864" y="3429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7397496" y="413308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&amp; inspection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34072" y="46634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inspection, interviews &amp; proving flights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395460" y="3657600"/>
            <a:ext cx="128016" cy="146304"/>
          </a:xfrm>
          <a:prstGeom prst="rightTriangle">
            <a:avLst/>
          </a:prstGeom>
          <a:solidFill>
            <a:srgbClr val="5E7CA6"/>
          </a:solidFill>
          <a:ln/>
        </p:spPr>
      </p:sp>
      <p:sp>
        <p:nvSpPr>
          <p:cNvPr id="36" name="Shape 34"/>
          <p:cNvSpPr/>
          <p:nvPr/>
        </p:nvSpPr>
        <p:spPr>
          <a:xfrm>
            <a:off x="9528048" y="3200400"/>
            <a:ext cx="2084832" cy="214884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277856" y="3429000"/>
            <a:ext cx="585216" cy="585216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0277856" y="3429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9" name="Text 37"/>
          <p:cNvSpPr txBox="1"/>
          <p:nvPr/>
        </p:nvSpPr>
        <p:spPr>
          <a:xfrm>
            <a:off x="9619488" y="4133088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656064" y="466344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AOC &amp; operations specifications issued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authority oversight — audits, inspection &amp; surveillance — then runs for the life of the certificate.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7432"/>
            <a:ext cx="1737360" cy="1737360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237744"/>
            <a:ext cx="1207008" cy="1207008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8248" y="493776"/>
            <a:ext cx="694944" cy="694944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7704" y="713232"/>
            <a:ext cx="256032" cy="256032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0856" y="786384"/>
            <a:ext cx="109728" cy="109728"/>
          </a:xfrm>
          <a:prstGeom prst="oval">
            <a:avLst/>
          </a:prstGeom>
          <a:solidFill>
            <a:srgbClr val="DCE7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OFFERINGS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731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productised tiers — clear scope, clear price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3566160" cy="43434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93976" y="2057400"/>
            <a:ext cx="658368" cy="658368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093976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8254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&amp; Strategy</a:t>
            </a:r>
            <a:endParaRPr lang="en-US" sz="17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264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 weeks · fixed fee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739896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recommendation (UK / EASA / both)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cost &amp; timeline model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gap analysis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scope map &amp; go / no-go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89704" y="1691640"/>
            <a:ext cx="3566160" cy="4343400"/>
          </a:xfrm>
          <a:prstGeom prst="roundRect">
            <a:avLst>
              <a:gd name="adj" fmla="val 2564"/>
            </a:avLst>
          </a:prstGeom>
          <a:solidFill>
            <a:srgbClr val="10284A"/>
          </a:solidFill>
          <a:ln w="12700">
            <a:solidFill>
              <a:srgbClr val="10284A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489704" y="19476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250" kern="0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43600" y="2295144"/>
            <a:ext cx="658368" cy="658368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943600" y="229514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4626864" y="30632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AOC Programme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4626864" y="3502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months · milestone fee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809744" y="397764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management &amp; authority liaison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system, SMS &amp; full manual suite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Postholder &amp; responsible-person support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Licence &amp; inspection readiness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39328" y="1691640"/>
            <a:ext cx="3566160" cy="43434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793224" y="2057400"/>
            <a:ext cx="658368" cy="658368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93224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476488" y="282549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Retained Compliance</a:t>
            </a:r>
            <a:endParaRPr lang="en-US" sz="1750" dirty="0"/>
          </a:p>
        </p:txBody>
      </p:sp>
      <p:sp>
        <p:nvSpPr>
          <p:cNvPr id="26" name="Text 24"/>
          <p:cNvSpPr txBox="1"/>
          <p:nvPr/>
        </p:nvSpPr>
        <p:spPr>
          <a:xfrm>
            <a:off x="8476488" y="32644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retainer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659368" y="3739896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monitoring &amp; internal audit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amendments &amp; regulatory change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/ fleet change &amp; specialist approvals</a:t>
            </a:r>
            <a:endParaRPr lang="en-US" sz="12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Postholder-as-a-service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2362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A3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with Tier 1  →  expand to Tier 2  →  retain with Tier 3.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7432"/>
            <a:ext cx="1737360" cy="1737360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237744"/>
            <a:ext cx="1207008" cy="1207008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8248" y="493776"/>
            <a:ext cx="694944" cy="694944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7704" y="713232"/>
            <a:ext cx="256032" cy="256032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0856" y="786384"/>
            <a:ext cx="109728" cy="109728"/>
          </a:xfrm>
          <a:prstGeom prst="oval">
            <a:avLst/>
          </a:prstGeom>
          <a:solidFill>
            <a:srgbClr val="DCE7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DELIVERY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731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lean core delivering large programmes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96112" y="2011680"/>
            <a:ext cx="566928" cy="566928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69748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 methodology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154680"/>
            <a:ext cx="3054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→ Scoping → Proposal → Kickoff → 5-phase Delivery → Handover → Retained. Weekly client cadence against a live findings/action log.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9704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45736" y="2011680"/>
            <a:ext cx="566928" cy="566928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45736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745736" y="269748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factory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4745736" y="3154680"/>
            <a:ext cx="3054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library of authority-tested manual frameworks and a compliance matrix. Every programme improves it — so each one makes the next faster.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339328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0" y="2011680"/>
            <a:ext cx="566928" cy="566928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59536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0" y="2697480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associate network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8595360" y="3154680"/>
            <a:ext cx="3054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 bench of ex-authority inspectors, type specialists and CAMO partners, engaged per project under back-to-back terms.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800600"/>
            <a:ext cx="10972800" cy="1234440"/>
          </a:xfrm>
          <a:prstGeom prst="roundRect">
            <a:avLst>
              <a:gd name="adj" fmla="val 6667"/>
            </a:avLst>
          </a:prstGeom>
          <a:solidFill>
            <a:srgbClr val="10284A"/>
          </a:solidFill>
          <a:ln/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6012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IP &amp; SECURITY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53035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Second-reviewer peer review on every submission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53035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controlled source of truth &amp; version control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53035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NDAs, access control — the template library is the crown jewel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7432"/>
            <a:ext cx="1737360" cy="1737360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237744"/>
            <a:ext cx="1207008" cy="1207008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8248" y="493776"/>
            <a:ext cx="694944" cy="694944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7704" y="713232"/>
            <a:ext cx="256032" cy="256032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0856" y="786384"/>
            <a:ext cx="109728" cy="109728"/>
          </a:xfrm>
          <a:prstGeom prst="oval">
            <a:avLst/>
          </a:prstGeom>
          <a:solidFill>
            <a:srgbClr val="DCE7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&amp; STAFFING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731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permanent core, large flexible bench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459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5852160" cy="822960"/>
          </a:xfrm>
          <a:prstGeom prst="roundRect">
            <a:avLst>
              <a:gd name="adj" fmla="val 10000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1248" y="21031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/ Managing Consultant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4048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senior authority relationships, quality sign-off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983480" y="2249424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83480" y="224942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2944368"/>
            <a:ext cx="5852160" cy="822960"/>
          </a:xfrm>
          <a:prstGeom prst="roundRect">
            <a:avLst>
              <a:gd name="adj" fmla="val 10000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41248" y="30358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Certification Consultant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33375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programmes; owns the document factory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4983480" y="3182112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983480" y="3182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/ first win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877056"/>
            <a:ext cx="5852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41248" y="39684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Coordinator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2702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admin, compliance matrix, document control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4983480" y="41148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83480" y="4114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programmes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" y="4809744"/>
            <a:ext cx="58521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41248" y="490118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/ Ops Manager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" y="52029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proposals, contracts, associate management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4983480" y="5047488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983480" y="50474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1–2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03720" y="1645920"/>
            <a:ext cx="4663440" cy="2331720"/>
          </a:xfrm>
          <a:prstGeom prst="roundRect">
            <a:avLst>
              <a:gd name="adj" fmla="val 3922"/>
            </a:avLst>
          </a:prstGeom>
          <a:solidFill>
            <a:srgbClr val="10284A"/>
          </a:solidFill>
          <a:ln/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178040" y="1847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ASSOCIATE BENCH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360920" y="21945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Ex-authority &amp; senior ops managers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Airworthiness &amp; CAMO partners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&amp; special-approval specialists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/ fractional postholders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EASA member-state NAA specialists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903720" y="4206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SCALING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903720" y="4572000"/>
            <a:ext cx="384048" cy="384048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90372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406640" y="45720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core + 4–6 associates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903720" y="5102352"/>
            <a:ext cx="384048" cy="384048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903720" y="5102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2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406640" y="510235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core + 8–10 associates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903720" y="5632704"/>
            <a:ext cx="384048" cy="384048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903720" y="5632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7406640" y="563270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 core + 10–15 associates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7432"/>
            <a:ext cx="1737360" cy="1737360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237744"/>
            <a:ext cx="1207008" cy="1207008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8248" y="493776"/>
            <a:ext cx="694944" cy="694944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7704" y="713232"/>
            <a:ext cx="256032" cy="256032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0856" y="786384"/>
            <a:ext cx="109728" cy="109728"/>
          </a:xfrm>
          <a:prstGeom prst="oval">
            <a:avLst/>
          </a:prstGeom>
          <a:solidFill>
            <a:srgbClr val="DCE7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731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revenue streams — recurring covers overhead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45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PRICING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201168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feasibility &amp; strategy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011680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£8k–£25k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670048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67004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full AOC (single type)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67004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£120k–£250k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328416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complex / dual UK+EASA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32841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£250k–£600k+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986784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4F7FB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98678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retained compliance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398678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£3k–£15k / mo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645152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64515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approval module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617720" y="4645152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£15k–£60k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53492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authority, legal &amp; third-party CAMO fees.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16459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REVENUE  (£m, midpoint)</a:t>
            </a:r>
            <a:endParaRPr lang="en-US" sz="125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6537960" y="2011680"/>
          <a:ext cx="5029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 txBox="1"/>
          <p:nvPr/>
        </p:nvSpPr>
        <p:spPr>
          <a:xfrm>
            <a:off x="6675120" y="4754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SHARE OF REVENUE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675120" y="5074920"/>
            <a:ext cx="1508760" cy="960120"/>
          </a:xfrm>
          <a:prstGeom prst="roundRect">
            <a:avLst>
              <a:gd name="adj" fmla="val 8571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675120" y="51389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3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~10%</a:t>
            </a:r>
            <a:endParaRPr lang="en-US" sz="2600" dirty="0"/>
          </a:p>
        </p:txBody>
      </p:sp>
      <p:sp>
        <p:nvSpPr>
          <p:cNvPr id="31" name="Text 28"/>
          <p:cNvSpPr txBox="1"/>
          <p:nvPr/>
        </p:nvSpPr>
        <p:spPr>
          <a:xfrm>
            <a:off x="6675120" y="56692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1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8348472" y="5074920"/>
            <a:ext cx="1508760" cy="960120"/>
          </a:xfrm>
          <a:prstGeom prst="roundRect">
            <a:avLst>
              <a:gd name="adj" fmla="val 8571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8348472" y="51389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3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~20%</a:t>
            </a:r>
            <a:endParaRPr lang="en-US" sz="2600" dirty="0"/>
          </a:p>
        </p:txBody>
      </p:sp>
      <p:sp>
        <p:nvSpPr>
          <p:cNvPr id="34" name="Text 31"/>
          <p:cNvSpPr txBox="1"/>
          <p:nvPr/>
        </p:nvSpPr>
        <p:spPr>
          <a:xfrm>
            <a:off x="8348472" y="56692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2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10021824" y="5074920"/>
            <a:ext cx="1508760" cy="960120"/>
          </a:xfrm>
          <a:prstGeom prst="roundRect">
            <a:avLst>
              <a:gd name="adj" fmla="val 8571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10021824" y="5138928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3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~30%</a:t>
            </a:r>
            <a:endParaRPr lang="en-US" sz="2600" dirty="0"/>
          </a:p>
        </p:txBody>
      </p:sp>
      <p:sp>
        <p:nvSpPr>
          <p:cNvPr id="37" name="Text 34"/>
          <p:cNvSpPr txBox="1"/>
          <p:nvPr/>
        </p:nvSpPr>
        <p:spPr>
          <a:xfrm>
            <a:off x="10021824" y="56692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 3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7432"/>
            <a:ext cx="1737360" cy="1737360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237744"/>
            <a:ext cx="1207008" cy="1207008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8248" y="493776"/>
            <a:ext cx="694944" cy="694944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7704" y="713232"/>
            <a:ext cx="256032" cy="256032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0856" y="786384"/>
            <a:ext cx="109728" cy="109728"/>
          </a:xfrm>
          <a:prstGeom prst="oval">
            <a:avLst/>
          </a:prstGeom>
          <a:solidFill>
            <a:srgbClr val="DCE7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731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Trust-led channels, land-and-expand motion</a:t>
            </a:r>
            <a:endParaRPr lang="en-US" sz="3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45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 (in priority order)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457200" cy="45720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61872" y="19933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network &amp; referrals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261872" y="229514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channel — certification is bought on trust.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834640"/>
            <a:ext cx="457200" cy="45720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28163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partnerships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311810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firms, lessors, financiers, CAMOs, OEMs.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657600"/>
            <a:ext cx="457200" cy="45720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363931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leadership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261872" y="39410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UK–EASA divergence, timelines, pitfalls — be the expert.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4480560"/>
            <a:ext cx="457200" cy="45720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446227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outbound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47640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Senior-to-senior outreach to new &amp; expanding operators.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303520"/>
            <a:ext cx="457200" cy="45720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61872" y="52852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2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/ lessor due diligence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1261872" y="558698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 entry that converts into the full programme.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995160" y="1691640"/>
            <a:ext cx="4572000" cy="4343400"/>
          </a:xfrm>
          <a:prstGeom prst="roundRect">
            <a:avLst>
              <a:gd name="adj" fmla="val 2105"/>
            </a:avLst>
          </a:prstGeom>
          <a:solidFill>
            <a:srgbClr val="10284A"/>
          </a:solidFill>
          <a:ln/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269480" y="19202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 MOTION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269480" y="2377440"/>
            <a:ext cx="548640" cy="548640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2694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955280" y="23774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</a:t>
            </a:r>
            <a:pPr indent="0" marL="0">
              <a:buNone/>
            </a:pPr>
            <a:r>
              <a:rPr lang="en-US" sz="1300" i="1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Tier 1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955280" y="270662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feasibility study — low-risk first step, high-conversion.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52360" y="3273552"/>
            <a:ext cx="219456" cy="219456"/>
          </a:xfrm>
          <a:prstGeom prst="downArrow">
            <a:avLst/>
          </a:prstGeom>
          <a:solidFill>
            <a:srgbClr val="5E7CA6"/>
          </a:solidFill>
          <a:ln/>
        </p:spPr>
      </p:sp>
      <p:sp>
        <p:nvSpPr>
          <p:cNvPr id="37" name="Shape 35"/>
          <p:cNvSpPr/>
          <p:nvPr/>
        </p:nvSpPr>
        <p:spPr>
          <a:xfrm>
            <a:off x="7269480" y="3547872"/>
            <a:ext cx="548640" cy="548640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269480" y="3547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955280" y="35478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</a:t>
            </a:r>
            <a:pPr indent="0" marL="0">
              <a:buNone/>
            </a:pPr>
            <a:r>
              <a:rPr lang="en-US" sz="1300" i="1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Tier 2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7955280" y="387705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feasibility into the full certification programme.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452360" y="4443984"/>
            <a:ext cx="219456" cy="219456"/>
          </a:xfrm>
          <a:prstGeom prst="downArrow">
            <a:avLst/>
          </a:prstGeom>
          <a:solidFill>
            <a:srgbClr val="5E7CA6"/>
          </a:solidFill>
          <a:ln/>
        </p:spPr>
      </p:sp>
      <p:sp>
        <p:nvSpPr>
          <p:cNvPr id="42" name="Shape 40"/>
          <p:cNvSpPr/>
          <p:nvPr/>
        </p:nvSpPr>
        <p:spPr>
          <a:xfrm>
            <a:off x="7269480" y="4718304"/>
            <a:ext cx="548640" cy="548640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269480" y="4718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7955280" y="471830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</a:t>
            </a:r>
            <a:pPr indent="0" marL="0">
              <a:buNone/>
            </a:pPr>
            <a:r>
              <a:rPr lang="en-US" sz="1300" i="1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Tier 3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955280" y="50474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every certificate into a compliance retainer at handover.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7432"/>
            <a:ext cx="1737360" cy="1737360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237744"/>
            <a:ext cx="1207008" cy="1207008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8248" y="493776"/>
            <a:ext cx="694944" cy="694944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7704" y="713232"/>
            <a:ext cx="256032" cy="256032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0856" y="786384"/>
            <a:ext cx="109728" cy="109728"/>
          </a:xfrm>
          <a:prstGeom prst="oval">
            <a:avLst/>
          </a:prstGeom>
          <a:solidFill>
            <a:srgbClr val="DCE7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731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own governance must be exemplary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691640"/>
            <a:ext cx="3529584" cy="457200"/>
          </a:xfrm>
          <a:prstGeom prst="roundRect">
            <a:avLst>
              <a:gd name="adj" fmla="val 18000"/>
            </a:avLst>
          </a:prstGeom>
          <a:solidFill>
            <a:srgbClr val="1028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169164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22199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botched or delayed programme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256032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review, hard qualification, honest scoping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4389120" y="169164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1691640"/>
            <a:ext cx="3529584" cy="457200"/>
          </a:xfrm>
          <a:prstGeom prst="roundRect">
            <a:avLst>
              <a:gd name="adj" fmla="val 18000"/>
            </a:avLst>
          </a:prstGeom>
          <a:solidFill>
            <a:srgbClr val="1028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0" y="169164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liability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222199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claims loss from advice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256032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PI insurance, clear terms, scope boundaries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138160" y="1691640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8160" y="1691640"/>
            <a:ext cx="3529584" cy="457200"/>
          </a:xfrm>
          <a:prstGeom prst="roundRect">
            <a:avLst>
              <a:gd name="adj" fmla="val 18000"/>
            </a:avLst>
          </a:prstGeom>
          <a:solidFill>
            <a:srgbClr val="1028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321040" y="169164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Fixed-fee overrun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2221992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balloons, margin erodes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256032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 scoping, assumptions, variation process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40080" y="3300984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300984"/>
            <a:ext cx="3529584" cy="457200"/>
          </a:xfrm>
          <a:prstGeom prst="roundRect">
            <a:avLst>
              <a:gd name="adj" fmla="val 18000"/>
            </a:avLst>
          </a:prstGeom>
          <a:solidFill>
            <a:srgbClr val="10284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330098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insolvency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" y="383133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debt mid-programme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416966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Qualification, deposits, milestone billing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4389120" y="3300984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9120" y="3300984"/>
            <a:ext cx="3529584" cy="457200"/>
          </a:xfrm>
          <a:prstGeom prst="roundRect">
            <a:avLst>
              <a:gd name="adj" fmla="val 18000"/>
            </a:avLst>
          </a:prstGeom>
          <a:solidFill>
            <a:srgbClr val="1028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572000" y="330098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Key-person dependency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0" y="383133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revenue rides on founder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0" y="416966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senior consultant + associate bench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138160" y="3300984"/>
            <a:ext cx="3529584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138160" y="3300984"/>
            <a:ext cx="3529584" cy="457200"/>
          </a:xfrm>
          <a:prstGeom prst="roundRect">
            <a:avLst>
              <a:gd name="adj" fmla="val 18000"/>
            </a:avLst>
          </a:prstGeom>
          <a:solidFill>
            <a:srgbClr val="1028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321040" y="330098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volatility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321040" y="3831336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Lumpy, cyclical pipeline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321040" y="4169664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Tier 3 recurring to cover fixed cost</a:t>
            </a:r>
            <a:endParaRPr lang="en-US" sz="108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619963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A312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counsel: if an operator is not ready or not viable, we say so — even at the cost of the sale.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27432"/>
            <a:ext cx="1737360" cy="1737360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237744"/>
            <a:ext cx="1207008" cy="1207008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28248" y="493776"/>
            <a:ext cx="694944" cy="694944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47704" y="713232"/>
            <a:ext cx="256032" cy="256032"/>
          </a:xfrm>
          <a:prstGeom prst="oval">
            <a:avLst/>
          </a:prstGeom>
          <a:ln w="12700">
            <a:solidFill>
              <a:srgbClr val="DCE7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20856" y="786384"/>
            <a:ext cx="109728" cy="109728"/>
          </a:xfrm>
          <a:prstGeom prst="oval">
            <a:avLst/>
          </a:prstGeom>
          <a:solidFill>
            <a:srgbClr val="DCE7F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731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founder-led launch, 0–18 months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2103120" cy="3931920"/>
          </a:xfrm>
          <a:prstGeom prst="roundRect">
            <a:avLst>
              <a:gd name="adj" fmla="val 3913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17320" y="2039112"/>
            <a:ext cx="548640" cy="54864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41732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0–2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356616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founder positioning &amp; track record</a:t>
            </a:r>
            <a:endParaRPr lang="en-US" sz="1030" dirty="0"/>
          </a:p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Incorporate; bind PI insurance</a:t>
            </a:r>
            <a:endParaRPr lang="en-US" sz="1030" dirty="0"/>
          </a:p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core legal templates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2745943" y="2240280"/>
            <a:ext cx="128016" cy="146304"/>
          </a:xfrm>
          <a:prstGeom prst="rightTriangle">
            <a:avLst/>
          </a:prstGeom>
          <a:solidFill>
            <a:srgbClr val="5E7CA6"/>
          </a:solidFill>
          <a:ln/>
        </p:spPr>
      </p:sp>
      <p:sp>
        <p:nvSpPr>
          <p:cNvPr id="16" name="Shape 14"/>
          <p:cNvSpPr/>
          <p:nvPr/>
        </p:nvSpPr>
        <p:spPr>
          <a:xfrm>
            <a:off x="2880360" y="1783080"/>
            <a:ext cx="2103120" cy="3931920"/>
          </a:xfrm>
          <a:prstGeom prst="roundRect">
            <a:avLst>
              <a:gd name="adj" fmla="val 3913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0" y="2039112"/>
            <a:ext cx="548640" cy="54864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65760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297180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bench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081528" y="356616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document factory v1</a:t>
            </a:r>
            <a:endParaRPr lang="en-US" sz="1030" dirty="0"/>
          </a:p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Productise the three tiers</a:t>
            </a:r>
            <a:endParaRPr lang="en-US" sz="1030" dirty="0"/>
          </a:p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&amp; vet first associates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986223" y="2240280"/>
            <a:ext cx="128016" cy="146304"/>
          </a:xfrm>
          <a:prstGeom prst="rightTriangle">
            <a:avLst/>
          </a:prstGeom>
          <a:solidFill>
            <a:srgbClr val="5E7CA6"/>
          </a:solidFill>
          <a:ln/>
        </p:spPr>
      </p:sp>
      <p:sp>
        <p:nvSpPr>
          <p:cNvPr id="23" name="Shape 21"/>
          <p:cNvSpPr/>
          <p:nvPr/>
        </p:nvSpPr>
        <p:spPr>
          <a:xfrm>
            <a:off x="5120640" y="1783080"/>
            <a:ext cx="2103120" cy="3931920"/>
          </a:xfrm>
          <a:prstGeom prst="roundRect">
            <a:avLst>
              <a:gd name="adj" fmla="val 3913"/>
            </a:avLst>
          </a:prstGeom>
          <a:solidFill>
            <a:srgbClr val="10284A"/>
          </a:solidFill>
          <a:ln w="12700">
            <a:solidFill>
              <a:srgbClr val="10284A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897880" y="2039112"/>
            <a:ext cx="548640" cy="548640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89788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21208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3–8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21208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revenue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321808" y="356616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first Tier 1 clients</a:t>
            </a:r>
            <a:endParaRPr lang="en-US" sz="1030" dirty="0"/>
          </a:p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partner referral network</a:t>
            </a:r>
            <a:endParaRPr lang="en-US" sz="1030" dirty="0"/>
          </a:p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the anchor Tier 2 programme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7226503" y="2240280"/>
            <a:ext cx="128016" cy="146304"/>
          </a:xfrm>
          <a:prstGeom prst="rightTriangle">
            <a:avLst/>
          </a:prstGeom>
          <a:solidFill>
            <a:srgbClr val="5E7CA6"/>
          </a:solidFill>
          <a:ln/>
        </p:spPr>
      </p:sp>
      <p:sp>
        <p:nvSpPr>
          <p:cNvPr id="30" name="Shape 28"/>
          <p:cNvSpPr/>
          <p:nvPr/>
        </p:nvSpPr>
        <p:spPr>
          <a:xfrm>
            <a:off x="7360920" y="1783080"/>
            <a:ext cx="2103120" cy="3931920"/>
          </a:xfrm>
          <a:prstGeom prst="roundRect">
            <a:avLst>
              <a:gd name="adj" fmla="val 3913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0" y="2039112"/>
            <a:ext cx="548640" cy="54864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13816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45236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6–12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45236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model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7562088" y="356616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anchor to Tier 3 retainer</a:t>
            </a:r>
            <a:endParaRPr lang="en-US" sz="1030" dirty="0"/>
          </a:p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2nd senior consultant</a:t>
            </a:r>
            <a:endParaRPr lang="en-US" sz="1030" dirty="0"/>
          </a:p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first case study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9466783" y="2240280"/>
            <a:ext cx="128016" cy="146304"/>
          </a:xfrm>
          <a:prstGeom prst="rightTriangle">
            <a:avLst/>
          </a:prstGeom>
          <a:solidFill>
            <a:srgbClr val="5E7CA6"/>
          </a:solidFill>
          <a:ln/>
        </p:spPr>
      </p:sp>
      <p:sp>
        <p:nvSpPr>
          <p:cNvPr id="37" name="Shape 35"/>
          <p:cNvSpPr/>
          <p:nvPr/>
        </p:nvSpPr>
        <p:spPr>
          <a:xfrm>
            <a:off x="9601200" y="1783080"/>
            <a:ext cx="2103120" cy="3931920"/>
          </a:xfrm>
          <a:prstGeom prst="roundRect">
            <a:avLst>
              <a:gd name="adj" fmla="val 3913"/>
            </a:avLst>
          </a:prstGeom>
          <a:solidFill>
            <a:srgbClr val="F1F6FC"/>
          </a:solidFill>
          <a:ln w="12700">
            <a:solidFill>
              <a:srgbClr val="DCE6F1"/>
            </a:solidFill>
            <a:prstDash val="solid"/>
          </a:ln>
          <a:effectLst>
            <a:outerShdw sx="100000" sy="100000" kx="0" ky="0" algn="bl" rotWithShape="0" blurRad="127000" dist="38100" dir="5400000">
              <a:srgbClr val="10284A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378440" y="2039112"/>
            <a:ext cx="548640" cy="548640"/>
          </a:xfrm>
          <a:prstGeom prst="oval">
            <a:avLst/>
          </a:prstGeom>
          <a:solidFill>
            <a:srgbClr val="10284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037844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9692640" y="2697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A312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12–18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692640" y="2971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9802368" y="3566160"/>
            <a:ext cx="1737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concurrent programmes</a:t>
            </a:r>
            <a:endParaRPr lang="en-US" sz="1030" dirty="0"/>
          </a:p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recurring book to cover overhead</a:t>
            </a:r>
            <a:endParaRPr lang="en-US" sz="1030" dirty="0"/>
          </a:p>
          <a:p>
            <a:pPr marL="127000" indent="-1270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03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dual UK+EASA offer</a:t>
            </a:r>
            <a:endParaRPr lang="en-US" sz="1030" dirty="0"/>
          </a:p>
        </p:txBody>
      </p:sp>
      <p:sp>
        <p:nvSpPr>
          <p:cNvPr id="43" name="Text 41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so that credibility and the first anchor client come before any significant fixed cost.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8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38360" y="4343400"/>
            <a:ext cx="1737360" cy="1737360"/>
          </a:xfrm>
          <a:prstGeom prst="oval">
            <a:avLst/>
          </a:prstGeom>
          <a:ln w="12700">
            <a:solidFill>
              <a:srgbClr val="2240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03536" y="4608576"/>
            <a:ext cx="1207008" cy="1207008"/>
          </a:xfrm>
          <a:prstGeom prst="oval">
            <a:avLst/>
          </a:prstGeom>
          <a:ln w="12700">
            <a:solidFill>
              <a:srgbClr val="2240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59568" y="4864608"/>
            <a:ext cx="694944" cy="694944"/>
          </a:xfrm>
          <a:prstGeom prst="oval">
            <a:avLst/>
          </a:prstGeom>
          <a:ln w="12700">
            <a:solidFill>
              <a:srgbClr val="2240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79024" y="5084064"/>
            <a:ext cx="256032" cy="256032"/>
          </a:xfrm>
          <a:prstGeom prst="oval">
            <a:avLst/>
          </a:prstGeom>
          <a:ln w="12700">
            <a:solidFill>
              <a:srgbClr val="22406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52176" y="5157216"/>
            <a:ext cx="109728" cy="109728"/>
          </a:xfrm>
          <a:prstGeom prst="oval">
            <a:avLst/>
          </a:prstGeom>
          <a:solidFill>
            <a:srgbClr val="22406A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4800600"/>
            <a:ext cx="1737360" cy="1737360"/>
          </a:xfrm>
          <a:prstGeom prst="oval">
            <a:avLst/>
          </a:prstGeom>
          <a:ln w="12700">
            <a:solidFill>
              <a:srgbClr val="1C3A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5065776"/>
            <a:ext cx="1207008" cy="1207008"/>
          </a:xfrm>
          <a:prstGeom prst="oval">
            <a:avLst/>
          </a:prstGeom>
          <a:ln w="12700">
            <a:solidFill>
              <a:srgbClr val="1C3A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5321808"/>
            <a:ext cx="694944" cy="694944"/>
          </a:xfrm>
          <a:prstGeom prst="oval">
            <a:avLst/>
          </a:prstGeom>
          <a:ln w="12700">
            <a:solidFill>
              <a:srgbClr val="1C3A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5541264"/>
            <a:ext cx="256032" cy="256032"/>
          </a:xfrm>
          <a:prstGeom prst="oval">
            <a:avLst/>
          </a:prstGeom>
          <a:ln w="12700">
            <a:solidFill>
              <a:srgbClr val="1C3A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2416" y="5614416"/>
            <a:ext cx="109728" cy="109728"/>
          </a:xfrm>
          <a:prstGeom prst="oval">
            <a:avLst/>
          </a:prstGeom>
          <a:solidFill>
            <a:srgbClr val="1C3A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WORK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9601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success factors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640080" y="1965960"/>
            <a:ext cx="457200" cy="457200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61872" y="192938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credibility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2677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sells without a genuine track record and authority relationships.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965960"/>
            <a:ext cx="457200" cy="457200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636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85432" y="192938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flawless first programme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85432" y="226771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that compounds into everything else.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2926080"/>
            <a:ext cx="457200" cy="457200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261872" y="28895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Recurring-revenue discipline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261872" y="32278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covering overhead removes the feast-or-famine trap.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63640" y="2926080"/>
            <a:ext cx="457200" cy="457200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63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85432" y="288950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factory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885432" y="322783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efficiency and margin engine — protect and improve it every job.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3886200"/>
            <a:ext cx="457200" cy="457200"/>
          </a:xfrm>
          <a:prstGeom prst="oval">
            <a:avLst/>
          </a:prstGeom>
          <a:solidFill>
            <a:srgbClr val="CE1B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261872" y="384962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Reputation, always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1261872" y="41879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50" dirty="0">
                <a:solidFill>
                  <a:srgbClr val="DC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to build, one bad job to lose.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40080" y="5074920"/>
            <a:ext cx="10972800" cy="1143000"/>
          </a:xfrm>
          <a:prstGeom prst="roundRect">
            <a:avLst>
              <a:gd name="adj" fmla="val 8000"/>
            </a:avLst>
          </a:prstGeom>
          <a:solidFill>
            <a:srgbClr val="1B3D6B"/>
          </a:solidFill>
          <a:ln w="12700">
            <a:solidFill>
              <a:srgbClr val="5E7CA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4400" y="5230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55321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founder's one-page credibility profile &amp; target list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4498848" y="55321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accountant / lawyer on structure &amp; PI insurance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8083296" y="55321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06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 Tier 1 feasibility offer &amp; its fixed price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C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aid only — verify every requirement against current UK CAA / EASA sources.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AeroCert Partners — AOC Consultancy Business Plan</dc:title>
  <dc:subject>PptxGenJS Presentation</dc:subject>
  <dc:creator>AeroCert Partners</dc:creator>
  <cp:lastModifiedBy>AeroCert Partners</cp:lastModifiedBy>
  <cp:revision>1</cp:revision>
  <dcterms:created xsi:type="dcterms:W3CDTF">2026-09-02T08:51:11Z</dcterms:created>
  <dcterms:modified xsi:type="dcterms:W3CDTF">2026-09-02T08:51:11Z</dcterms:modified>
</cp:coreProperties>
</file>